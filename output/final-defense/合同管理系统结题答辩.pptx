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95350" cy="6858000"/>
          </a:xfrm>
          <a:prstGeom prst="rect">
            <a:avLst/>
          </a:prstGeom>
          <a:solidFill>
            <a:srgbClr val="152136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95350" y="0"/>
            <a:ext cx="11296650" cy="1714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38250" y="685800"/>
            <a:ext cx="590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0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ContractSys</a:t>
            </a:r>
            <a:endParaRPr sz="40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57300" y="1409700"/>
            <a:ext cx="590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合同管理系统结题答辩</a:t>
            </a:r>
            <a:endParaRPr sz="2250" b="1">
              <a:solidFill>
                <a:srgbClr val="147D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238250" y="2209800"/>
            <a:ext cx="6286500" cy="19050"/>
          </a:xfrm>
          <a:prstGeom prst="rect">
            <a:avLst/>
          </a:prstGeom>
          <a:solidFill>
            <a:srgbClr val="D8E1EC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38250" y="2495550"/>
            <a:ext cx="6667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从中期流程闭环推进到结题验收。</a:t>
            </a:r>
            <a:endParaRPr sz="21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1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新增回退模型、分片续传、模板管理和状态机验证。</a:t>
            </a:r>
            <a:endParaRPr sz="210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57300" y="409575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131</a:t>
            </a:r>
            <a:endParaRPr sz="2550" b="1">
              <a:solidFill>
                <a:srgbClr val="147D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57300" y="45529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中期后变更文件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0" y="409575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82</a:t>
            </a:r>
            <a:endParaRPr sz="25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238500" y="45529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后端测试用例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19700" y="409575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24613</a:t>
            </a:r>
            <a:endParaRPr sz="25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219700" y="45529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状态机可达状态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01000" y="1104900"/>
            <a:ext cx="295275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001000" y="1104900"/>
            <a:ext cx="66675" cy="35242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210550" y="1276350"/>
            <a:ext cx="2533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结题成果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210550" y="1638300"/>
            <a:ext cx="253365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六份 Word 报告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结题 PPTX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MP4 演示脚本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自动化验证材料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238250" y="64389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ContractSys 合同管理系统 | 结题答辩</a:t>
            </a:r>
            <a:endParaRPr sz="825" b="0">
              <a:solidFill>
                <a:srgbClr val="7B87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95350" cy="6858000"/>
          </a:xfrm>
          <a:prstGeom prst="rect">
            <a:avLst/>
          </a:prstGeom>
          <a:solidFill>
            <a:srgbClr val="152136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95350" y="0"/>
            <a:ext cx="11296650" cy="1714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38250" y="457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MIDTERM DELTA</a:t>
            </a:r>
            <a:endParaRPr sz="1050" b="1">
              <a:solidFill>
                <a:srgbClr val="147D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38250" y="704850"/>
            <a:ext cx="885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功能闭环</a:t>
            </a:r>
            <a:r>
              <a:rPr lang="en-US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----&gt; </a:t>
            </a: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稳定可验收</a:t>
            </a:r>
            <a:endParaRPr sz="2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68050" y="5143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57300" y="1714500"/>
            <a:ext cx="28575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57300" y="1714500"/>
            <a:ext cx="66675" cy="13144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66850" y="188595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流程增强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66850" y="2247900"/>
            <a:ext cx="243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回退模型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撤回任务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多轮历史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400550" y="1714500"/>
            <a:ext cx="28575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400550" y="1714500"/>
            <a:ext cx="66675" cy="13144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610100" y="188595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文件能力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10100" y="2247900"/>
            <a:ext cx="243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分片上传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会话续传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附件权限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543800" y="1714500"/>
            <a:ext cx="28575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543800" y="1714500"/>
            <a:ext cx="66675" cy="13144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753350" y="188595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模板能力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753350" y="2247900"/>
            <a:ext cx="243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上传下载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启停管理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角色可见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257300" y="3429000"/>
            <a:ext cx="28575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257300" y="3429000"/>
            <a:ext cx="66675" cy="13144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466850" y="360045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查询审计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466850" y="3962400"/>
            <a:ext cx="243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高级查询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日志导出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统计缓存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400550" y="3429000"/>
            <a:ext cx="28575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400550" y="3429000"/>
            <a:ext cx="66675" cy="131445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610100" y="360045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演示工程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610100" y="3962400"/>
            <a:ext cx="243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一键启动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演示数据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Playwright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543800" y="3429000"/>
            <a:ext cx="28575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543800" y="3429000"/>
            <a:ext cx="66675" cy="131445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753350" y="360045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验证深化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753350" y="3962400"/>
            <a:ext cx="243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82 个测试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BFS 预演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smoke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238250" y="64389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ContractSys 合同管理系统 | 结题答辩</a:t>
            </a:r>
            <a:endParaRPr sz="825" b="0">
              <a:solidFill>
                <a:srgbClr val="7B87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95350" cy="6858000"/>
          </a:xfrm>
          <a:prstGeom prst="rect">
            <a:avLst/>
          </a:prstGeom>
          <a:solidFill>
            <a:srgbClr val="152136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95350" y="0"/>
            <a:ext cx="11296650" cy="1714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38250" y="457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REQUIREMENT MATCH</a:t>
            </a:r>
            <a:endParaRPr sz="1050" b="1">
              <a:solidFill>
                <a:srgbClr val="147D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38250" y="704850"/>
            <a:ext cx="885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多方面拓展</a:t>
            </a: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基础要求</a:t>
            </a:r>
            <a:endParaRPr sz="2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68050" y="5143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57300" y="1619250"/>
            <a:ext cx="2857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57300" y="1619250"/>
            <a:ext cx="66675" cy="13335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66850" y="179070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B/S + MySQL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50340" y="2080895"/>
            <a:ext cx="280860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本系统：</a:t>
            </a:r>
            <a:b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 3 + Spring Boot 3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Flyway 多数据库迁移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可重复部署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400550" y="1619250"/>
            <a:ext cx="2857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400550" y="1619250"/>
            <a:ext cx="66675" cy="133350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610100" y="179070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角色登录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10100" y="2080895"/>
            <a:ext cx="2438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本系统：</a:t>
            </a:r>
            <a:b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 鉴权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RBAC 权限点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接口方法级授权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543800" y="1619250"/>
            <a:ext cx="2857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543800" y="1619250"/>
            <a:ext cx="66675" cy="133350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753350" y="179070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合同流程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753350" y="2080895"/>
            <a:ext cx="2438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本系统：</a:t>
            </a:r>
            <a:b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任务表 + 状态历史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多轮回退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撤回/打回/恢复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257300" y="3429000"/>
            <a:ext cx="2857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257300" y="3429000"/>
            <a:ext cx="66675" cy="13335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1466850" y="360045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附件上传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466850" y="3890645"/>
            <a:ext cx="2438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本系统：</a:t>
            </a:r>
            <a:b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格式与魔数校验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分片上传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中断后续传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400550" y="3429000"/>
            <a:ext cx="2857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400550" y="3429000"/>
            <a:ext cx="66675" cy="13335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610100" y="360045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日志导出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610100" y="3890645"/>
            <a:ext cx="2438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本系统：</a:t>
            </a:r>
            <a:b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事件驱动日志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CSV 转义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版本历史追踪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543800" y="3429000"/>
            <a:ext cx="285750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543800" y="3429000"/>
            <a:ext cx="66675" cy="13335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7753350" y="360045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查询统计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7753350" y="3890645"/>
            <a:ext cx="2438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本系统：</a:t>
            </a:r>
            <a:b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高级筛选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状态/月度统计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缓存失效机制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238250" y="64389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ContractSys 合同管理系统 | 结题答辩</a:t>
            </a:r>
            <a:endParaRPr sz="825" b="0">
              <a:solidFill>
                <a:srgbClr val="7B87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95350" cy="6858000"/>
          </a:xfrm>
          <a:prstGeom prst="rect">
            <a:avLst/>
          </a:prstGeom>
          <a:solidFill>
            <a:srgbClr val="152136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95350" y="0"/>
            <a:ext cx="11296650" cy="1714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38250" y="457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INNOVATION</a:t>
            </a:r>
            <a:endParaRPr sz="1050" b="1">
              <a:solidFill>
                <a:srgbClr val="147D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38250" y="704850"/>
            <a:ext cx="885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</a:t>
            </a:r>
            <a:r>
              <a:rPr lang="zh-CN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r>
              <a:rPr lang="en-US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----&gt; </a:t>
            </a: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解决真实业务边界</a:t>
            </a:r>
            <a:endParaRPr sz="2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68050" y="5143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57300" y="1571625"/>
            <a:ext cx="4381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57300" y="1571625"/>
            <a:ext cx="66675" cy="114300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66850" y="1743075"/>
            <a:ext cx="3962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多轮工作流模型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66850" y="2105025"/>
            <a:ext cx="416687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 currentRound + task.round 表示流程轮次；旧轮任务封存而不是覆盖，拒绝原因和会签意见可追溯。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91250" y="1571625"/>
            <a:ext cx="4381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191250" y="1571625"/>
            <a:ext cx="66675" cy="11430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400800" y="1743075"/>
            <a:ext cx="3962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PENDING 语义收敛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00800" y="2105025"/>
            <a:ext cx="3962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待办、红点、按钮可用性都以“当前轮当前环节”为准，避免中期出现的提前审批/签订待办。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257300" y="3048000"/>
            <a:ext cx="4381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57300" y="3048000"/>
            <a:ext cx="66675" cy="114300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466850" y="3219450"/>
            <a:ext cx="3962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分片续传协议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466850" y="3509645"/>
            <a:ext cx="417703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创建上传会话、记录分片 index、查询 uploadedChunks、完整后合并入附件表，浏览器中断后可继续。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91250" y="3048000"/>
            <a:ext cx="4381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191250" y="3048000"/>
            <a:ext cx="66675" cy="11430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6400800" y="3219450"/>
            <a:ext cx="3962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事件驱动审计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00800" y="3581400"/>
            <a:ext cx="3962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合同变更只发布事件；操作日志、统计缓存失效由监听器处理，降低业务服务耦合。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257300" y="4524375"/>
            <a:ext cx="4381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257300" y="4524375"/>
            <a:ext cx="66675" cy="114300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466850" y="4695825"/>
            <a:ext cx="3962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状态机穷举验证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466850" y="5057775"/>
            <a:ext cx="3962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workflow_sim.py 镜像后端流程，BFS 检查死锁、全局卡死和重复任务，覆盖人工演示难发现的路径。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191250" y="4524375"/>
            <a:ext cx="43815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191250" y="4524375"/>
            <a:ext cx="66675" cy="1143000"/>
          </a:xfrm>
          <a:prstGeom prst="rect">
            <a:avLst/>
          </a:prstGeom>
          <a:solidFill>
            <a:srgbClr val="0F766E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6400800" y="4695825"/>
            <a:ext cx="3962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权限候选过滤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400800" y="5057775"/>
            <a:ext cx="3962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分配人员按会签/审批/签订权限分别查询，错误在选择阶段被消除，而不是提交后才失败。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238250" y="64389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ContractSys 合同管理系统 | 结题答辩</a:t>
            </a:r>
            <a:endParaRPr sz="825" b="0">
              <a:solidFill>
                <a:srgbClr val="7B87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95350" cy="6858000"/>
          </a:xfrm>
          <a:prstGeom prst="rect">
            <a:avLst/>
          </a:prstGeom>
          <a:solidFill>
            <a:srgbClr val="152136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95350" y="0"/>
            <a:ext cx="11296650" cy="1714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38250" y="457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ARCHITECTURE</a:t>
            </a:r>
            <a:endParaRPr sz="1050" b="1">
              <a:solidFill>
                <a:srgbClr val="147D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38250" y="704850"/>
            <a:ext cx="885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</a:t>
            </a:r>
            <a:r>
              <a:rPr lang="en-US" altLang="zh-CN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前后端分离，后端按领域拆分</a:t>
            </a:r>
            <a:endParaRPr sz="2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68050" y="5143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333500" y="2428875"/>
            <a:ext cx="18097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333500" y="2428875"/>
            <a:ext cx="66675" cy="1047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543050" y="2456815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 3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543050" y="2818765"/>
            <a:ext cx="139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295650" y="2933700"/>
            <a:ext cx="457200" cy="38100"/>
          </a:xfrm>
          <a:prstGeom prst="rect">
            <a:avLst/>
          </a:prstGeom>
          <a:solidFill>
            <a:srgbClr val="64748B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000500" y="2428875"/>
            <a:ext cx="2000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000500" y="2428875"/>
            <a:ext cx="66675" cy="10477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210050" y="245681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Spring Boot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210050" y="2818765"/>
            <a:ext cx="1581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事务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172200" y="2933700"/>
            <a:ext cx="457200" cy="38100"/>
          </a:xfrm>
          <a:prstGeom prst="rect">
            <a:avLst/>
          </a:prstGeom>
          <a:solidFill>
            <a:srgbClr val="64748B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877050" y="2428875"/>
            <a:ext cx="18097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877050" y="2428875"/>
            <a:ext cx="66675" cy="10477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086600" y="2456815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Security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086600" y="2818765"/>
            <a:ext cx="1390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RBAC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858250" y="2933700"/>
            <a:ext cx="457200" cy="38100"/>
          </a:xfrm>
          <a:prstGeom prst="rect">
            <a:avLst/>
          </a:prstGeom>
          <a:solidFill>
            <a:srgbClr val="64748B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563100" y="2428875"/>
            <a:ext cx="1619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563100" y="2428875"/>
            <a:ext cx="66675" cy="10477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772650" y="2456815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Database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772650" y="2818765"/>
            <a:ext cx="1200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Flyway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历史表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428750" y="4171950"/>
            <a:ext cx="952500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428750" y="4171950"/>
            <a:ext cx="66675" cy="95250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638300" y="4343400"/>
            <a:ext cx="910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领域拆分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638300" y="4705350"/>
            <a:ext cx="910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auth / contract / customer / user / log / common / config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238250" y="64389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ContractSys 合同管理系统 | 结题答辩</a:t>
            </a:r>
            <a:endParaRPr sz="825" b="0">
              <a:solidFill>
                <a:srgbClr val="7B87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95350" cy="6858000"/>
          </a:xfrm>
          <a:prstGeom prst="rect">
            <a:avLst/>
          </a:prstGeom>
          <a:solidFill>
            <a:srgbClr val="152136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95350" y="0"/>
            <a:ext cx="11296650" cy="1714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38250" y="457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</a:t>
            </a:r>
            <a:endParaRPr sz="1050" b="1">
              <a:solidFill>
                <a:srgbClr val="147D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38250" y="704850"/>
            <a:ext cx="885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回退模型</a:t>
            </a:r>
            <a:r>
              <a:rPr lang="en-US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支持多轮</a:t>
            </a:r>
            <a:r>
              <a:rPr lang="zh-CN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回炉</a:t>
            </a: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</a:t>
            </a:r>
            <a:endParaRPr sz="2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68050" y="5143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57300" y="2381250"/>
            <a:ext cx="1381125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57300" y="2381250"/>
            <a:ext cx="1381125" cy="76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371600" y="25527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起草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33500" y="2838450"/>
            <a:ext cx="1219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DRAFT</a:t>
            </a:r>
            <a:endParaRPr sz="8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028950" y="2381250"/>
            <a:ext cx="1381125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3028950" y="2381250"/>
            <a:ext cx="1381125" cy="7620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143250" y="25527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会签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105150" y="2838450"/>
            <a:ext cx="1219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ASSIGNED</a:t>
            </a:r>
            <a:endParaRPr sz="8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800600" y="2381250"/>
            <a:ext cx="1381125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800600" y="2381250"/>
            <a:ext cx="1381125" cy="762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914900" y="25527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定稿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876800" y="2838450"/>
            <a:ext cx="1219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COUNTERSIGNED</a:t>
            </a:r>
            <a:endParaRPr sz="8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572250" y="2381250"/>
            <a:ext cx="1381125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572250" y="2381250"/>
            <a:ext cx="1381125" cy="7620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686550" y="25527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648450" y="2838450"/>
            <a:ext cx="1219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FINALIZED</a:t>
            </a:r>
            <a:endParaRPr sz="8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343900" y="2381250"/>
            <a:ext cx="1381125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343900" y="2381250"/>
            <a:ext cx="1381125" cy="7620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458200" y="25527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签订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420100" y="2838450"/>
            <a:ext cx="1219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SIGNED</a:t>
            </a:r>
            <a:endParaRPr sz="8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381250" y="4000500"/>
            <a:ext cx="2476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2381250" y="4000500"/>
            <a:ext cx="66675" cy="104775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2590800" y="417195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打回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590800" y="45339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审批/签订可打回到起草或定稿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143500" y="4000500"/>
            <a:ext cx="2476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143500" y="4000500"/>
            <a:ext cx="66675" cy="1047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5353050" y="417195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5353050" y="45339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起草人修改后开启新轮次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905750" y="4000500"/>
            <a:ext cx="247650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7905750" y="4000500"/>
            <a:ext cx="66675" cy="10477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8115300" y="417195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撤回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8115300" y="4533900"/>
            <a:ext cx="205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下一环节未完成时可撤回任务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238250" y="64389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ContractSys 合同管理系统 | 结题答辩</a:t>
            </a:r>
            <a:endParaRPr sz="825" b="0">
              <a:solidFill>
                <a:srgbClr val="7B87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1136313" y="1188720"/>
            <a:ext cx="589915" cy="304609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32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五</a:t>
            </a:r>
            <a:br>
              <a:rPr lang="zh-CN" altLang="en-US" sz="32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</a:br>
            <a:r>
              <a:rPr lang="zh-CN" altLang="en-US" sz="32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种</a:t>
            </a:r>
            <a:br>
              <a:rPr lang="zh-CN" altLang="en-US" sz="32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</a:br>
            <a:r>
              <a:rPr lang="zh-CN" altLang="en-US" sz="32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常</a:t>
            </a:r>
            <a:br>
              <a:rPr lang="zh-CN" altLang="en-US" sz="32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</a:br>
            <a:r>
              <a:rPr lang="zh-CN" altLang="en-US" sz="32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规</a:t>
            </a:r>
            <a:br>
              <a:rPr lang="zh-CN" altLang="en-US" sz="32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</a:br>
            <a:r>
              <a:rPr lang="zh-CN" altLang="en-US" sz="32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状</a:t>
            </a:r>
            <a:br>
              <a:rPr lang="zh-CN" altLang="en-US" sz="32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</a:br>
            <a:r>
              <a:rPr lang="zh-CN" altLang="en-US" sz="3200" b="1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态</a:t>
            </a:r>
            <a:endParaRPr lang="zh-CN" altLang="en-US" sz="3200" b="1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799965" y="5445760"/>
            <a:ext cx="323469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40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三种特殊</a:t>
            </a:r>
            <a:r>
              <a:rPr lang="zh-CN" altLang="en-US" sz="4000" b="1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流程</a:t>
            </a:r>
            <a:endParaRPr lang="zh-CN" altLang="en-US" sz="4000" b="1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effectLst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95350" cy="6858000"/>
          </a:xfrm>
          <a:prstGeom prst="rect">
            <a:avLst/>
          </a:prstGeom>
          <a:solidFill>
            <a:srgbClr val="152136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95350" y="0"/>
            <a:ext cx="11296650" cy="1714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38250" y="457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UPLOAD</a:t>
            </a:r>
            <a:endParaRPr sz="1050" b="1">
              <a:solidFill>
                <a:srgbClr val="147D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38250" y="704850"/>
            <a:ext cx="885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附件</a:t>
            </a:r>
            <a:r>
              <a:rPr lang="en-US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</a:t>
            </a: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分片上传</a:t>
            </a:r>
            <a:r>
              <a:rPr lang="en-US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中断后续传</a:t>
            </a:r>
            <a:endParaRPr sz="2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68050" y="5143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57300" y="1790700"/>
            <a:ext cx="2762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57300" y="1790700"/>
            <a:ext cx="66675" cy="14287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66850" y="1962150"/>
            <a:ext cx="2343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创建会话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66850" y="2324100"/>
            <a:ext cx="2343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记录上传会话 ID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文件名/大小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分片数量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191000" y="2486025"/>
            <a:ext cx="342900" cy="38100"/>
          </a:xfrm>
          <a:prstGeom prst="rect">
            <a:avLst/>
          </a:prstGeom>
          <a:solidFill>
            <a:srgbClr val="64748B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819650" y="1790700"/>
            <a:ext cx="2762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819650" y="1790700"/>
            <a:ext cx="66675" cy="1428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029200" y="1962150"/>
            <a:ext cx="2343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上传分片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029200" y="2324100"/>
            <a:ext cx="2343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1MB 切片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index 上传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查询已传分片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753350" y="2486025"/>
            <a:ext cx="342900" cy="38100"/>
          </a:xfrm>
          <a:prstGeom prst="rect">
            <a:avLst/>
          </a:prstGeom>
          <a:solidFill>
            <a:srgbClr val="64748B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382000" y="1790700"/>
            <a:ext cx="27622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382000" y="1790700"/>
            <a:ext cx="66675" cy="14287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591550" y="1962150"/>
            <a:ext cx="2343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合并入库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91550" y="2324100"/>
            <a:ext cx="23431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校验大小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复用文件校验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生成附件记录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1714500" y="4171950"/>
            <a:ext cx="95250" cy="95250"/>
          </a:xfrm>
          <a:prstGeom prst="ellipse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924050" y="409575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前端使用 localStorage 保存 uploadId，同一文件重新选择时可</a:t>
            </a:r>
            <a:r>
              <a:rPr sz="1575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复用上传会话</a:t>
            </a:r>
            <a:r>
              <a:rPr sz="15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57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1714500" y="45529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924050" y="447675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后端限制分片参数、上传人和合同状态，只有起草阶段起草人可修改附件。</a:t>
            </a:r>
            <a:endParaRPr sz="157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238250" y="64389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ContractSys 合同管理系统 | 结题答辩</a:t>
            </a:r>
            <a:endParaRPr sz="825" b="0">
              <a:solidFill>
                <a:srgbClr val="7B87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95350" cy="6858000"/>
          </a:xfrm>
          <a:prstGeom prst="rect">
            <a:avLst/>
          </a:prstGeom>
          <a:solidFill>
            <a:srgbClr val="152136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95350" y="0"/>
            <a:ext cx="11296650" cy="1714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38250" y="457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SCREENS</a:t>
            </a:r>
            <a:endParaRPr sz="1050" b="1">
              <a:solidFill>
                <a:srgbClr val="147D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38250" y="704850"/>
            <a:ext cx="885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</a:t>
            </a:r>
            <a:r>
              <a:rPr lang="en-US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流程可视化</a:t>
            </a:r>
            <a:endParaRPr sz="2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68050" y="5143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7300" y="1635125"/>
            <a:ext cx="2952750" cy="19685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635125"/>
            <a:ext cx="2952750" cy="19685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0" y="1635125"/>
            <a:ext cx="2952750" cy="196850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925" y="4095750"/>
            <a:ext cx="2286000" cy="15240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831" y="4095750"/>
            <a:ext cx="2205588" cy="1524000"/>
          </a:xfrm>
          <a:prstGeom prst="rect">
            <a:avLst/>
          </a:prstGeom>
        </p:spPr>
      </p:pic>
      <p:sp>
        <p:nvSpPr>
          <p:cNvPr id="12" name="矩形 11"/>
          <p:cNvSpPr>
            <a:spLocks noGrp="1"/>
          </p:cNvSpPr>
          <p:nvPr/>
        </p:nvSpPr>
        <p:spPr>
          <a:xfrm>
            <a:off x="1238250" y="64389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ContractSys 合同管理系统 | 结题答辩</a:t>
            </a:r>
            <a:endParaRPr sz="825" b="0">
              <a:solidFill>
                <a:srgbClr val="7B87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95350" cy="6858000"/>
          </a:xfrm>
          <a:prstGeom prst="rect">
            <a:avLst/>
          </a:prstGeom>
          <a:solidFill>
            <a:srgbClr val="152136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95350" y="0"/>
            <a:ext cx="11296650" cy="1714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38250" y="457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SECURITY</a:t>
            </a:r>
            <a:endParaRPr sz="1050" b="1">
              <a:solidFill>
                <a:srgbClr val="147D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38250" y="704850"/>
            <a:ext cx="885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权限控制</a:t>
            </a:r>
            <a:r>
              <a:rPr lang="en-US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覆盖菜单、接口和业务数据</a:t>
            </a:r>
            <a:endParaRPr sz="2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68050" y="5143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333500" y="2000250"/>
            <a:ext cx="20955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333500" y="2000250"/>
            <a:ext cx="66675" cy="121920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543050" y="21717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JWT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543050" y="2533650"/>
            <a:ext cx="1676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签名校验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过期控制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401 跳转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714750" y="2000250"/>
            <a:ext cx="20955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714750" y="2000250"/>
            <a:ext cx="66675" cy="121920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924300" y="21717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RBAC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924300" y="2533650"/>
            <a:ext cx="1676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用户-角色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角色-权限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方法授权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0" y="2000250"/>
            <a:ext cx="20955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096000" y="2000250"/>
            <a:ext cx="66675" cy="121920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305550" y="21717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数据权限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05550" y="2533650"/>
            <a:ext cx="1676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任务归属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起草人限制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合同可见性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477250" y="2000250"/>
            <a:ext cx="209550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477250" y="2000250"/>
            <a:ext cx="66675" cy="12192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686800" y="21717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审计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686800" y="2533650"/>
            <a:ext cx="1676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事件日志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CSV 导出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操作追踪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271905" y="4465320"/>
            <a:ext cx="102393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安全边界不只依赖前端菜单隐藏，后端每个关键接口都通过权限点和业务状态二次校验。</a:t>
            </a:r>
            <a:endParaRPr sz="19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238250" y="64389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ContractSys 合同管理系统 | 结题答辩</a:t>
            </a:r>
            <a:endParaRPr sz="825" b="0">
              <a:solidFill>
                <a:srgbClr val="7B87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95350" cy="6858000"/>
          </a:xfrm>
          <a:prstGeom prst="rect">
            <a:avLst/>
          </a:prstGeom>
          <a:solidFill>
            <a:srgbClr val="152136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95350" y="0"/>
            <a:ext cx="11296650" cy="1714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38250" y="457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 MODEL</a:t>
            </a:r>
            <a:endParaRPr sz="1050" b="1">
              <a:solidFill>
                <a:srgbClr val="147D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38250" y="704850"/>
            <a:ext cx="885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</a:t>
            </a:r>
            <a:r>
              <a:rPr lang="en-US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</a:t>
            </a: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权限、合同、流程和审计</a:t>
            </a:r>
            <a:r>
              <a:rPr lang="zh-CN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的设计</a:t>
            </a:r>
            <a:endParaRPr lang="zh-CN" sz="2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68050" y="5143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38250" y="2000250"/>
            <a:ext cx="2095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38250" y="2000250"/>
            <a:ext cx="66675" cy="1428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47800" y="21717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权限表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47800" y="2533650"/>
            <a:ext cx="1676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sys_user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sys_role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sys_permission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多对多关联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76650" y="2000250"/>
            <a:ext cx="2095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676650" y="2000250"/>
            <a:ext cx="66675" cy="14287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886200" y="21717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业务主表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886200" y="2533650"/>
            <a:ext cx="1676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customer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attachment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模板文件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15050" y="2000250"/>
            <a:ext cx="2095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115050" y="2000250"/>
            <a:ext cx="66675" cy="14287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324600" y="21717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流程表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24600" y="2533650"/>
            <a:ext cx="1676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contract_task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current_round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state_history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553450" y="2000250"/>
            <a:ext cx="2095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553450" y="2000250"/>
            <a:ext cx="66675" cy="14287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763000" y="21717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审计扩展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763000" y="2533650"/>
            <a:ext cx="1676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operation_log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contract_version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statistics cache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238250" y="4762500"/>
            <a:ext cx="991489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Flyway 同步维护 H2、MySQL、PostgreSQL 迁移脚本，便于本地测试、联调和容器部署。</a:t>
            </a:r>
            <a:endParaRPr sz="187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238250" y="64389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ContractSys 合同管理系统 | 结题答辩</a:t>
            </a:r>
            <a:endParaRPr sz="825" b="0">
              <a:solidFill>
                <a:srgbClr val="7B87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95350" cy="6858000"/>
          </a:xfrm>
          <a:prstGeom prst="rect">
            <a:avLst/>
          </a:prstGeom>
          <a:solidFill>
            <a:srgbClr val="152136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95350" y="0"/>
            <a:ext cx="11296650" cy="1714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38250" y="457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VERIFICATION</a:t>
            </a:r>
            <a:endParaRPr sz="1050" b="1">
              <a:solidFill>
                <a:srgbClr val="147D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38250" y="704850"/>
            <a:ext cx="885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从接口边界扩展到状态机穷举</a:t>
            </a:r>
            <a:endParaRPr sz="2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68050" y="5143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66850" y="175260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82</a:t>
            </a:r>
            <a:endParaRPr sz="25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466850" y="22098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后端测试用例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371850" y="175260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6A3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2550" b="1">
              <a:solidFill>
                <a:srgbClr val="16A3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371850" y="22098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非截断死锁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276850" y="175260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24613</a:t>
            </a:r>
            <a:endParaRPr sz="2550" b="1">
              <a:solidFill>
                <a:srgbClr val="147D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76850" y="22098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可达状态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524750" y="175260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DC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MP4</a:t>
            </a:r>
            <a:endParaRPr sz="2550" b="1">
              <a:solidFill>
                <a:srgbClr val="DC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524750" y="220980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演示视频产物</a:t>
            </a:r>
            <a:endParaRPr sz="1125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428750" y="3238500"/>
            <a:ext cx="2809875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428750" y="3238500"/>
            <a:ext cx="66675" cy="13144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638300" y="3409950"/>
            <a:ext cx="2390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集成测试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638300" y="3771900"/>
            <a:ext cx="23907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权限矩阵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边界校验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流程回归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591050" y="3238500"/>
            <a:ext cx="2809875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591050" y="3238500"/>
            <a:ext cx="66675" cy="13144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800600" y="3409950"/>
            <a:ext cx="2390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状态机预演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800600" y="3771900"/>
            <a:ext cx="23907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BFS 穷举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重复任务检测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卡死路径验证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753350" y="3238500"/>
            <a:ext cx="2809875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753350" y="3238500"/>
            <a:ext cx="66675" cy="13144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962900" y="3409950"/>
            <a:ext cx="2390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端到端演示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962900" y="3771900"/>
            <a:ext cx="239077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Playwright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延时录制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截图与日志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238250" y="64389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ContractSys 合同管理系统 | 结题答辩</a:t>
            </a:r>
            <a:endParaRPr sz="825" b="0">
              <a:solidFill>
                <a:srgbClr val="7B87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95350" cy="6858000"/>
          </a:xfrm>
          <a:prstGeom prst="rect">
            <a:avLst/>
          </a:prstGeom>
          <a:solidFill>
            <a:srgbClr val="152136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95350" y="0"/>
            <a:ext cx="11296650" cy="1714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38250" y="457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DEMO VIDEO</a:t>
            </a:r>
            <a:endParaRPr sz="1050" b="1">
              <a:solidFill>
                <a:srgbClr val="147D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38250" y="704850"/>
            <a:ext cx="885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演示视频</a:t>
            </a:r>
            <a:endParaRPr sz="2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68050" y="5143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28750" y="1619250"/>
            <a:ext cx="9144000" cy="3714750"/>
          </a:xfrm>
          <a:prstGeom prst="rect">
            <a:avLst/>
          </a:prstGeom>
          <a:solidFill>
            <a:srgbClr val="0F172A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381250" y="2857500"/>
            <a:ext cx="723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contractsys-final-demo.mp4</a:t>
            </a:r>
            <a:endParaRPr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428875" y="3505200"/>
            <a:ext cx="714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BD5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录制脚本生成同目录 MP4；若需嵌入媒体，请在 PowerPoint 中插入该文件。</a:t>
            </a:r>
            <a:endParaRPr sz="1650" b="0">
              <a:solidFill>
                <a:srgbClr val="CBD5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238250" y="64389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ContractSys 合同管理系统 | 结题答辩</a:t>
            </a:r>
            <a:endParaRPr sz="825" b="0">
              <a:solidFill>
                <a:srgbClr val="7B87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Embedded final demo MP4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428750" y="1268730"/>
            <a:ext cx="9274175" cy="4667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95350" cy="6858000"/>
          </a:xfrm>
          <a:prstGeom prst="rect">
            <a:avLst/>
          </a:prstGeom>
          <a:solidFill>
            <a:srgbClr val="152136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95350" y="0"/>
            <a:ext cx="11296650" cy="1714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38250" y="457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TEAM</a:t>
            </a:r>
            <a:endParaRPr sz="1050" b="1">
              <a:solidFill>
                <a:srgbClr val="147D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38250" y="704850"/>
            <a:ext cx="885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分工角色</a:t>
            </a:r>
            <a:endParaRPr sz="2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68050" y="5143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257300" y="1619250"/>
            <a:ext cx="19050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257300" y="1619250"/>
            <a:ext cx="66675" cy="1428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66850" y="1790700"/>
            <a:ext cx="148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项目负责人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466850" y="2152650"/>
            <a:ext cx="14859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进度统筹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文档整合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答辩组织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505200" y="1619250"/>
            <a:ext cx="19050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505200" y="1619250"/>
            <a:ext cx="66675" cy="14287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3714750" y="1790700"/>
            <a:ext cx="148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后端开发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714750" y="2152650"/>
            <a:ext cx="14859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认证权限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合同流程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附件上传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753100" y="1619250"/>
            <a:ext cx="19050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753100" y="1619250"/>
            <a:ext cx="66675" cy="14287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962650" y="1790700"/>
            <a:ext cx="148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前端开发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962650" y="2152650"/>
            <a:ext cx="14859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页面交互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流程可视化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PPT素材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001000" y="1619250"/>
            <a:ext cx="19050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001000" y="1619250"/>
            <a:ext cx="66675" cy="142875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210550" y="1790700"/>
            <a:ext cx="1485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210550" y="2152650"/>
            <a:ext cx="14859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测试用例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Playwright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回归验证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629150" y="3714750"/>
            <a:ext cx="2857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4629150" y="3714750"/>
            <a:ext cx="66675" cy="1428750"/>
          </a:xfrm>
          <a:prstGeom prst="rect">
            <a:avLst/>
          </a:prstGeom>
          <a:solidFill>
            <a:srgbClr val="DC2626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838700" y="388620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数据库/运维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838700" y="4248150"/>
            <a:ext cx="2438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Flyway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启动脚本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238250" y="64389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ContractSys 合同管理系统 | 结题答辩</a:t>
            </a:r>
            <a:endParaRPr sz="825" b="0">
              <a:solidFill>
                <a:srgbClr val="7B87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648903" y="1635125"/>
            <a:ext cx="539115" cy="13836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赵</a:t>
            </a:r>
            <a:b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杰</a:t>
            </a:r>
            <a:b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雄</a:t>
            </a:r>
            <a:endParaRPr lang="zh-CN" altLang="en-US" sz="28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877753" y="1635125"/>
            <a:ext cx="539115" cy="13836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谷</a:t>
            </a:r>
            <a:b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友</a:t>
            </a:r>
            <a:b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瑄</a:t>
            </a:r>
            <a:endParaRPr lang="zh-CN" altLang="en-US" sz="28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947218" y="3727450"/>
            <a:ext cx="539115" cy="13836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王</a:t>
            </a:r>
            <a:b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en-US" altLang="zh-CN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b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凯</a:t>
            </a:r>
            <a:endParaRPr lang="zh-CN" altLang="en-US" sz="28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9358948" y="1635125"/>
            <a:ext cx="539115" cy="13836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项</a:t>
            </a:r>
            <a:b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重</a:t>
            </a:r>
            <a:b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善</a:t>
            </a:r>
            <a:endParaRPr lang="zh-CN" altLang="en-US" sz="28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106603" y="1635125"/>
            <a:ext cx="539115" cy="13836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张</a:t>
            </a:r>
            <a:b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浩</a:t>
            </a:r>
            <a:b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lang="zh-CN" altLang="en-US" sz="28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然</a:t>
            </a:r>
            <a:endParaRPr lang="zh-CN" altLang="en-US" sz="2800" b="1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895350" cy="6858000"/>
          </a:xfrm>
          <a:prstGeom prst="rect">
            <a:avLst/>
          </a:prstGeom>
          <a:solidFill>
            <a:srgbClr val="152136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895350" y="0"/>
            <a:ext cx="11296650" cy="1714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38250" y="457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147D7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SUMMARY</a:t>
            </a:r>
            <a:endParaRPr sz="1050" b="1">
              <a:solidFill>
                <a:srgbClr val="147D7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38250" y="704850"/>
            <a:ext cx="885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</a:t>
            </a:r>
            <a:r>
              <a:rPr lang="en-US" altLang="zh-CN"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sz="2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可演示、可追踪、可验证</a:t>
            </a:r>
            <a:endParaRPr sz="27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068050" y="51435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0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66850" y="1924050"/>
            <a:ext cx="26670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466850" y="1924050"/>
            <a:ext cx="66675" cy="18097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676400" y="209550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业务完整性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676400" y="2457450"/>
            <a:ext cx="22479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客户、合同、模板、附件、流程、日志均形成闭环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62500" y="1924050"/>
            <a:ext cx="26670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762500" y="1924050"/>
            <a:ext cx="66675" cy="1809750"/>
          </a:xfrm>
          <a:prstGeom prst="rect">
            <a:avLst/>
          </a:prstGeom>
          <a:solidFill>
            <a:srgbClr val="147D71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972050" y="209550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工程完整性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972050" y="2457450"/>
            <a:ext cx="22479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权限、事务、缓存、迁移、脚本和测试共同支撑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058150" y="1924050"/>
            <a:ext cx="26670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058150" y="1924050"/>
            <a:ext cx="66675" cy="1809750"/>
          </a:xfrm>
          <a:prstGeom prst="rect">
            <a:avLst/>
          </a:prstGeom>
          <a:solidFill>
            <a:srgbClr val="16A34A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267700" y="2095500"/>
            <a:ext cx="2247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答辩完整性</a:t>
            </a:r>
            <a:endParaRPr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267700" y="2457450"/>
            <a:ext cx="22479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Word 报告、PPTX、MP4 脚本和验证证据齐备</a:t>
            </a:r>
            <a:endParaRPr sz="1350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809750" y="4972050"/>
            <a:ext cx="8096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</a:t>
            </a:r>
            <a:r>
              <a:rPr sz="18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</a:t>
            </a:r>
            <a:r>
              <a:rPr lang="zh-CN" sz="18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考虑</a:t>
            </a:r>
            <a:r>
              <a:rPr sz="18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扩展邮件通知、电子签</a:t>
            </a:r>
            <a:r>
              <a:rPr lang="zh-CN" sz="18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</a:t>
            </a:r>
            <a:r>
              <a:rPr sz="18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AI </a:t>
            </a:r>
            <a:r>
              <a:rPr lang="zh-CN" sz="18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辅助等方向</a:t>
            </a:r>
            <a:r>
              <a:rPr sz="1875" b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875" b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238250" y="64389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25" b="0">
                <a:solidFill>
                  <a:srgbClr val="7B879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ContractSys 合同管理系统 | 结题答辩</a:t>
            </a:r>
            <a:endParaRPr sz="825" b="0">
              <a:solidFill>
                <a:srgbClr val="7B87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2575</Words>
  <Application>WPS 演示</Application>
  <PresentationFormat>Converted Presentation</PresentationFormat>
  <Paragraphs>460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微软雅黑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挖土机13号</cp:lastModifiedBy>
  <cp:revision>42</cp:revision>
  <dcterms:created xsi:type="dcterms:W3CDTF">2026-06-17T14:10:15Z</dcterms:created>
  <dcterms:modified xsi:type="dcterms:W3CDTF">2026-06-17T14:10:15Z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33B399FF69FA4271A411E1EB6E81B5D3_12</vt:lpwstr>
  </property>
  <property fmtid="{D5CDD505-2E9C-101B-9397-08002B2CF9AE}" pid="3" name="KSOProductBuildVer">
    <vt:lpwstr>2052-12.1.25895.25895</vt:lpwstr>
  </property>
</Properties>
</file>